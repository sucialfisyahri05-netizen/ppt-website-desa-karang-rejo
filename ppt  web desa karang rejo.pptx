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302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-1143000"/>
            <a:ext cx="5760720" cy="5760720"/>
          </a:xfrm>
          <a:prstGeom prst="ellipse">
            <a:avLst/>
          </a:prstGeom>
          <a:solidFill>
            <a:srgbClr val="277F60">
              <a:alpha val="90000"/>
            </a:srgbClr>
          </a:solidFill>
          <a:ln w="12700">
            <a:solidFill>
              <a:srgbClr val="277F6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3840480"/>
            <a:ext cx="3657600" cy="3657600"/>
          </a:xfrm>
          <a:prstGeom prst="ellipse">
            <a:avLst/>
          </a:prstGeom>
          <a:solidFill>
            <a:srgbClr val="E6B45B">
              <a:alpha val="95000"/>
            </a:srgbClr>
          </a:solidFill>
          <a:ln w="12700">
            <a:solidFill>
              <a:srgbClr val="E6B45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749808"/>
            <a:ext cx="3063240" cy="329184"/>
          </a:xfrm>
          <a:prstGeom prst="roundRect">
            <a:avLst>
              <a:gd name="adj" fmla="val 36111"/>
            </a:avLst>
          </a:prstGeom>
          <a:solidFill>
            <a:srgbClr val="E6B45B"/>
          </a:solidFill>
          <a:ln w="12700">
            <a:solidFill>
              <a:srgbClr val="E6B4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800100"/>
            <a:ext cx="2843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USULAN PENGEMBANGAN WEBSITE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7589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Menuju Nagori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yang Lebih Digital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388620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kern="0" spc="60" dirty="0">
                <a:solidFill>
                  <a:srgbClr val="BEE2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PROTOTIPE WEBSITE DAN PANDUAN WAWANCARA RT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4709160"/>
            <a:ext cx="6263640" cy="13716"/>
          </a:xfrm>
          <a:prstGeom prst="rect">
            <a:avLst/>
          </a:prstGeom>
          <a:solidFill>
            <a:srgbClr val="7DAE9F"/>
          </a:solidFill>
          <a:ln w="12700">
            <a:solidFill>
              <a:srgbClr val="7DAE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047488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Nagori Karang Rejo  •  Kecamatan Gunung Maligas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Kabupaten Simalungun, Sumatera Utara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6309360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9FC9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 KONSEP  |  OKTOBER 2026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685800" y="5724144"/>
            <a:ext cx="10881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B04B"/>
                </a:solidFill>
              </a:defRPr>
            </a:pPr>
            <a:r>
              <a:t>DISUSUN OLEH  •  KELAS 23S03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Suci Alfisyahri Chaniago   •   Naza Ezirah   •   Khabib Sani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KONTEKS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Kenapa nagori membutuhkan website?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03504" y="141732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 kanal yang memudahkan warga menemukan informasi dan menyampaikan kebutuhan.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6483096"/>
            <a:ext cx="11018520" cy="10973"/>
          </a:xfrm>
          <a:prstGeom prst="rect">
            <a:avLst/>
          </a:prstGeom>
          <a:solidFill>
            <a:srgbClr val="DCE8D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3796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NAGORI KARANG REJO  •  PROPOSAL WEBSITE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82528" y="65105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2066544"/>
            <a:ext cx="10881360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267712"/>
            <a:ext cx="493776" cy="457200"/>
          </a:xfrm>
          <a:prstGeom prst="roundRect">
            <a:avLst>
              <a:gd name="adj" fmla="val 24000"/>
            </a:avLst>
          </a:prstGeom>
          <a:solidFill>
            <a:srgbClr val="DFF4E8"/>
          </a:solidFill>
          <a:ln w="12700">
            <a:solidFill>
              <a:srgbClr val="DFF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2359152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22037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Informasi tersebar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2212848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Warga perlu sumber pengumuman dan profil nagori yang mudah dicari.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3118104"/>
            <a:ext cx="10881360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319272"/>
            <a:ext cx="493776" cy="457200"/>
          </a:xfrm>
          <a:prstGeom prst="roundRect">
            <a:avLst>
              <a:gd name="adj" fmla="val 24000"/>
            </a:avLst>
          </a:prstGeom>
          <a:solidFill>
            <a:srgbClr val="DFF4E8"/>
          </a:solidFill>
          <a:ln w="12700">
            <a:solidFill>
              <a:srgbClr val="DFF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3410712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32552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Layanan belum terpusat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63440" y="3264408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Syarat dan alur administrasi dapat dijelaskan dalam satu tempat.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4169664"/>
            <a:ext cx="10881360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370832"/>
            <a:ext cx="493776" cy="457200"/>
          </a:xfrm>
          <a:prstGeom prst="roundRect">
            <a:avLst>
              <a:gd name="adj" fmla="val 24000"/>
            </a:avLst>
          </a:prstGeom>
          <a:solidFill>
            <a:srgbClr val="DFF4E8"/>
          </a:solidFill>
          <a:ln w="12700">
            <a:solidFill>
              <a:srgbClr val="DFF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" y="4462272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43068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Aspirasi perlu jalur jelas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63440" y="4315968"/>
            <a:ext cx="6492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Pertanyaan dan usulan warga lebih mudah diteruskan kepada pengurus.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7512" y="5605272"/>
            <a:ext cx="4572000" cy="329184"/>
          </a:xfrm>
          <a:prstGeom prst="roundRect">
            <a:avLst>
              <a:gd name="adj" fmla="val 36111"/>
            </a:avLst>
          </a:prstGeom>
          <a:solidFill>
            <a:srgbClr val="DFF4E8"/>
          </a:solidFill>
          <a:ln w="12700">
            <a:solidFill>
              <a:srgbClr val="DFF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655564"/>
            <a:ext cx="43525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TUJUAN: INFORMASI • PELAYANAN • PARTISIPASI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VISI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sebagai pusat layanan informasi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03504" y="141732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Bukan menggantikan pelayanan tatap muka, melainkan memudahkan akses informasi awal.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6483096"/>
            <a:ext cx="11018520" cy="10973"/>
          </a:xfrm>
          <a:prstGeom prst="rect">
            <a:avLst/>
          </a:prstGeom>
          <a:solidFill>
            <a:srgbClr val="DCE8D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3796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NAGORI KARANG REJO  •  PROPOSAL WEBSITE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82528" y="65105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2103120"/>
            <a:ext cx="3456432" cy="324612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304288"/>
            <a:ext cx="402336" cy="402336"/>
          </a:xfrm>
          <a:prstGeom prst="roundRect">
            <a:avLst>
              <a:gd name="adj" fmla="val 27273"/>
            </a:avLst>
          </a:prstGeom>
          <a:solidFill>
            <a:srgbClr val="DFF4E8"/>
          </a:solidFill>
          <a:ln w="12700">
            <a:solidFill>
              <a:srgbClr val="DFF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3317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286207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Transparan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1248" y="3346704"/>
            <a:ext cx="3090672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Informasi profil, kegiatan, dan pengumuman dapat dibaca setiap saat.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79976" y="2103120"/>
            <a:ext cx="3456432" cy="324612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62856" y="2304288"/>
            <a:ext cx="402336" cy="402336"/>
          </a:xfrm>
          <a:prstGeom prst="roundRect">
            <a:avLst>
              <a:gd name="adj" fmla="val 27273"/>
            </a:avLst>
          </a:prstGeom>
          <a:solidFill>
            <a:srgbClr val="DFF4E8"/>
          </a:solidFill>
          <a:ln w="12700">
            <a:solidFill>
              <a:srgbClr val="DFF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2856" y="23317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62856" y="286207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Praktis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62856" y="3346704"/>
            <a:ext cx="3090672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Panduan persyaratan dan kontak layanan lebih mudah ditemukan.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2103120"/>
            <a:ext cx="3456432" cy="324612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84464" y="2304288"/>
            <a:ext cx="402336" cy="402336"/>
          </a:xfrm>
          <a:prstGeom prst="roundRect">
            <a:avLst>
              <a:gd name="adj" fmla="val 27273"/>
            </a:avLst>
          </a:prstGeom>
          <a:solidFill>
            <a:srgbClr val="DFF4E8"/>
          </a:solidFill>
          <a:ln w="12700">
            <a:solidFill>
              <a:srgbClr val="DFF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84464" y="23317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84464" y="286207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Partisipatif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84464" y="3346704"/>
            <a:ext cx="3090672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Warga memiliki saluran untuk menyampaikan masukan atau pertanyaan.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DEMONSTRASI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Konsep tampilan beranda website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03504" y="141732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Tampilan bersih dengan aksen hijau, krem, dan emas untuk kesan ramah sekaligus resmi.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6483096"/>
            <a:ext cx="11018520" cy="10973"/>
          </a:xfrm>
          <a:prstGeom prst="rect">
            <a:avLst/>
          </a:prstGeom>
          <a:solidFill>
            <a:srgbClr val="DCE8D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3796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NAGORI KARANG REJO  •  PROPOSAL WEBSITE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82528" y="65105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" y="1920240"/>
            <a:ext cx="6400800" cy="4096512"/>
          </a:xfrm>
          <a:prstGeom prst="roundRect">
            <a:avLst>
              <a:gd name="adj" fmla="val 3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920240"/>
            <a:ext cx="6400800" cy="292608"/>
          </a:xfrm>
          <a:prstGeom prst="rect">
            <a:avLst/>
          </a:prstGeom>
          <a:solidFill>
            <a:srgbClr val="0D2528"/>
          </a:solidFill>
          <a:ln w="12700">
            <a:solidFill>
              <a:srgbClr val="0D25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" y="2029968"/>
            <a:ext cx="64008" cy="64008"/>
          </a:xfrm>
          <a:prstGeom prst="roundRect">
            <a:avLst>
              <a:gd name="adj" fmla="val 57143"/>
            </a:avLst>
          </a:prstGeom>
          <a:solidFill>
            <a:srgbClr val="E7897C"/>
          </a:solidFill>
          <a:ln w="12700">
            <a:solidFill>
              <a:srgbClr val="E789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2029968"/>
            <a:ext cx="64008" cy="64008"/>
          </a:xfrm>
          <a:prstGeom prst="roundRect">
            <a:avLst>
              <a:gd name="adj" fmla="val 57143"/>
            </a:avLst>
          </a:prstGeom>
          <a:solidFill>
            <a:srgbClr val="E6B45B"/>
          </a:solidFill>
          <a:ln w="12700">
            <a:solidFill>
              <a:srgbClr val="E6B4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6152" y="2029968"/>
            <a:ext cx="64008" cy="64008"/>
          </a:xfrm>
          <a:prstGeom prst="roundRect">
            <a:avLst>
              <a:gd name="adj" fmla="val 57143"/>
            </a:avLst>
          </a:prstGeom>
          <a:solidFill>
            <a:srgbClr val="80C49A"/>
          </a:solidFill>
          <a:ln w="12700">
            <a:solidFill>
              <a:srgbClr val="80C4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2377440"/>
            <a:ext cx="6144768" cy="1133856"/>
          </a:xfrm>
          <a:prstGeom prst="roundRect">
            <a:avLst>
              <a:gd name="adj" fmla="val 8065"/>
            </a:avLst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252374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KARANG REJO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78992" y="28529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4F5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Informasi nagori mudah dijangkau warga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0392" y="3767328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E9F2EF"/>
          </a:solidFill>
          <a:ln w="12700">
            <a:solidFill>
              <a:srgbClr val="E9F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4096512"/>
            <a:ext cx="185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 Nagori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46832" y="3767328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E9F2EF"/>
          </a:solidFill>
          <a:ln w="12700">
            <a:solidFill>
              <a:srgbClr val="E9F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01696" y="4096512"/>
            <a:ext cx="185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Layanan Warga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3272" y="3767328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E9F2EF"/>
          </a:solidFill>
          <a:ln w="12700">
            <a:solidFill>
              <a:srgbClr val="E9F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8136" y="4096512"/>
            <a:ext cx="185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Informasi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0392" y="4800600"/>
            <a:ext cx="6126480" cy="438912"/>
          </a:xfrm>
          <a:prstGeom prst="roundRect">
            <a:avLst>
              <a:gd name="adj" fmla="val 14583"/>
            </a:avLst>
          </a:prstGeom>
          <a:solidFill>
            <a:srgbClr val="F8F7F2"/>
          </a:solidFill>
          <a:ln w="12700">
            <a:solidFill>
              <a:srgbClr val="F8F7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4864608"/>
            <a:ext cx="588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Pengumuman dan aspirasi masyarakat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24928" y="1929384"/>
            <a:ext cx="4023360" cy="4096512"/>
          </a:xfrm>
          <a:prstGeom prst="roundRect">
            <a:avLst>
              <a:gd name="adj" fmla="val 3864"/>
            </a:avLst>
          </a:prstGeom>
          <a:solidFill>
            <a:srgbClr val="0D2528"/>
          </a:solidFill>
          <a:ln w="12700">
            <a:solidFill>
              <a:srgbClr val="0D25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232257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9E5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PENDEKATAN DESAIN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17536" y="2788920"/>
            <a:ext cx="3337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Sederhana.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Jelas.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Mudah dipakai.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7726680" y="5193792"/>
            <a:ext cx="3154680" cy="329184"/>
          </a:xfrm>
          <a:prstGeom prst="roundRect">
            <a:avLst>
              <a:gd name="adj" fmla="val 36111"/>
            </a:avLst>
          </a:prstGeom>
          <a:solidFill>
            <a:srgbClr val="E6B45B"/>
          </a:solidFill>
          <a:ln w="12700">
            <a:solidFill>
              <a:srgbClr val="E6B4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36408" y="5244084"/>
            <a:ext cx="2935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RAMAH PERANGKAT SELULER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/  FITUR INTI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Enam fitur yang diusulkan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03504" y="141732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Seluruh fitur akan dikonfirmasi kepada RT dan pihak pemerintahan nagori.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6483096"/>
            <a:ext cx="11018520" cy="10973"/>
          </a:xfrm>
          <a:prstGeom prst="rect">
            <a:avLst/>
          </a:prstGeom>
          <a:solidFill>
            <a:srgbClr val="DCE8D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3796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NAGORI KARANG REJO  •  PROPOSAL WEBSITE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82528" y="65105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1984248"/>
            <a:ext cx="3456432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" y="2148840"/>
            <a:ext cx="612648" cy="329184"/>
          </a:xfrm>
          <a:prstGeom prst="roundRect">
            <a:avLst>
              <a:gd name="adj" fmla="val 36111"/>
            </a:avLst>
          </a:prstGeom>
          <a:solidFill>
            <a:srgbClr val="DFF4E8"/>
          </a:solidFill>
          <a:ln w="12700">
            <a:solidFill>
              <a:srgbClr val="DFF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199132"/>
            <a:ext cx="393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2104" y="2596896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 nagori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2104" y="2980944"/>
            <a:ext cx="3154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Identitas, sejarah, wilayah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61688" y="1984248"/>
            <a:ext cx="3456432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35424" y="2148840"/>
            <a:ext cx="612648" cy="329184"/>
          </a:xfrm>
          <a:prstGeom prst="roundRect">
            <a:avLst>
              <a:gd name="adj" fmla="val 36111"/>
            </a:avLst>
          </a:prstGeom>
          <a:solidFill>
            <a:srgbClr val="DFF4E8"/>
          </a:solidFill>
          <a:ln w="12700">
            <a:solidFill>
              <a:srgbClr val="DFF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199132"/>
            <a:ext cx="393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35424" y="2596896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Pengumuman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35424" y="2980944"/>
            <a:ext cx="3154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dan informasi penting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5008" y="1984248"/>
            <a:ext cx="3456432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38744" y="2148840"/>
            <a:ext cx="612648" cy="329184"/>
          </a:xfrm>
          <a:prstGeom prst="roundRect">
            <a:avLst>
              <a:gd name="adj" fmla="val 36111"/>
            </a:avLst>
          </a:prstGeom>
          <a:solidFill>
            <a:srgbClr val="DFF4E8"/>
          </a:solidFill>
          <a:ln w="12700">
            <a:solidFill>
              <a:srgbClr val="DFF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48472" y="2199132"/>
            <a:ext cx="393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38744" y="2596896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Panduan surat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38744" y="2980944"/>
            <a:ext cx="3154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Persyaratan dan alur layanan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" y="3758184"/>
            <a:ext cx="3456432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" y="3922776"/>
            <a:ext cx="612648" cy="329184"/>
          </a:xfrm>
          <a:prstGeom prst="roundRect">
            <a:avLst>
              <a:gd name="adj" fmla="val 36111"/>
            </a:avLst>
          </a:prstGeom>
          <a:solidFill>
            <a:srgbClr val="DFF4E8"/>
          </a:solidFill>
          <a:ln w="12700">
            <a:solidFill>
              <a:srgbClr val="DFF4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3973068"/>
            <a:ext cx="393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2104" y="437083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Kontak pengurus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32104" y="4754880"/>
            <a:ext cx="3154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Saluran komunikasi resmi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61688" y="3758184"/>
            <a:ext cx="3456432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35424" y="3922776"/>
            <a:ext cx="612648" cy="329184"/>
          </a:xfrm>
          <a:prstGeom prst="roundRect">
            <a:avLst>
              <a:gd name="adj" fmla="val 36111"/>
            </a:avLst>
          </a:prstGeom>
          <a:solidFill>
            <a:srgbClr val="DFF4E8"/>
          </a:solidFill>
          <a:ln w="12700">
            <a:solidFill>
              <a:srgbClr val="DFF4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3973068"/>
            <a:ext cx="393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35424" y="437083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Aspirasi warga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4535424" y="4754880"/>
            <a:ext cx="3154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Masukan dan pertanyaan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65008" y="3758184"/>
            <a:ext cx="3456432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38744" y="3922776"/>
            <a:ext cx="612648" cy="329184"/>
          </a:xfrm>
          <a:prstGeom prst="roundRect">
            <a:avLst>
              <a:gd name="adj" fmla="val 36111"/>
            </a:avLst>
          </a:prstGeom>
          <a:solidFill>
            <a:srgbClr val="DFF4E8"/>
          </a:solidFill>
          <a:ln w="12700">
            <a:solidFill>
              <a:srgbClr val="DFF4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48472" y="3973068"/>
            <a:ext cx="393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38744" y="437083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Dokumentasi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238744" y="4754880"/>
            <a:ext cx="3154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Kegiatan dan galeri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/  ALUR WARGA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 perjalanan pengguna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03504" y="141732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Proses digital ini berupa rancangan, belum menjadi layanan resmi yang aktif.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6483096"/>
            <a:ext cx="11018520" cy="10973"/>
          </a:xfrm>
          <a:prstGeom prst="rect">
            <a:avLst/>
          </a:prstGeom>
          <a:solidFill>
            <a:srgbClr val="DCE8D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3796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NAGORI KARANG REJO  •  PROPOSAL WEBSITE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82528" y="65105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2331720"/>
            <a:ext cx="2468880" cy="2066544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53896" y="2633472"/>
            <a:ext cx="868680" cy="658368"/>
          </a:xfrm>
          <a:prstGeom prst="roundRect">
            <a:avLst>
              <a:gd name="adj" fmla="val 18056"/>
            </a:avLst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3896" y="277977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2104" y="3584448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Buka website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172968" y="2962656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3520440" y="2331720"/>
            <a:ext cx="2468880" cy="2066544"/>
          </a:xfrm>
          <a:prstGeom prst="roundRect">
            <a:avLst>
              <a:gd name="adj" fmla="val 6195"/>
            </a:avLst>
          </a:prstGeom>
          <a:solidFill>
            <a:srgbClr val="DFF4E8"/>
          </a:solidFill>
          <a:ln w="12700">
            <a:solidFill>
              <a:srgbClr val="DFF4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15968" y="2633472"/>
            <a:ext cx="868680" cy="658368"/>
          </a:xfrm>
          <a:prstGeom prst="roundRect">
            <a:avLst>
              <a:gd name="adj" fmla="val 18056"/>
            </a:avLst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277977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94176" y="3584448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Pilih layanan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35040" y="2962656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6382512" y="2331720"/>
            <a:ext cx="2468880" cy="2066544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2633472"/>
            <a:ext cx="868680" cy="658368"/>
          </a:xfrm>
          <a:prstGeom prst="roundRect">
            <a:avLst>
              <a:gd name="adj" fmla="val 18056"/>
            </a:avLst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277977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56248" y="3584448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Baca syarat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897112" y="2962656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500" dirty="0"/>
          </a:p>
        </p:txBody>
      </p:sp>
      <p:sp>
        <p:nvSpPr>
          <p:cNvPr id="24" name="Shape 22"/>
          <p:cNvSpPr/>
          <p:nvPr/>
        </p:nvSpPr>
        <p:spPr>
          <a:xfrm>
            <a:off x="9244584" y="2331720"/>
            <a:ext cx="2468880" cy="2066544"/>
          </a:xfrm>
          <a:prstGeom prst="roundRect">
            <a:avLst>
              <a:gd name="adj" fmla="val 6195"/>
            </a:avLst>
          </a:prstGeom>
          <a:solidFill>
            <a:srgbClr val="DFF4E8"/>
          </a:solidFill>
          <a:ln w="12700">
            <a:solidFill>
              <a:srgbClr val="DFF4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40112" y="2633472"/>
            <a:ext cx="868680" cy="658368"/>
          </a:xfrm>
          <a:prstGeom prst="roundRect">
            <a:avLst>
              <a:gd name="adj" fmla="val 18056"/>
            </a:avLst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40112" y="277977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418320" y="3584448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Hubungi pengurus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86384" y="496519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Prinsip: website memandu warga, sedangkan verifikasi dan penyelesaian administrasi mengikuti prosedur nagori.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/  PEMANGKU KEPENTINGAN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Peran RT dalam pengembangan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03504" y="141732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 membantu mengidentifikasi kebutuhan nyata warga sebelum fitur ditetapkan.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6483096"/>
            <a:ext cx="11018520" cy="10973"/>
          </a:xfrm>
          <a:prstGeom prst="rect">
            <a:avLst/>
          </a:prstGeom>
          <a:solidFill>
            <a:srgbClr val="DCE8D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3796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NAGORI KARANG REJO  •  PROPOSAL WEBSITE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82528" y="65105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2240280"/>
            <a:ext cx="3447288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5146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886968" y="3273552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 / Perwakilan warga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86968" y="3877056"/>
            <a:ext cx="28712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Masalah informasi, kebutuhan layanan, kebiasaan warga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61688" y="2240280"/>
            <a:ext cx="3447288" cy="2926080"/>
          </a:xfrm>
          <a:prstGeom prst="roundRect">
            <a:avLst>
              <a:gd name="adj" fmla="val 4688"/>
            </a:avLst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25146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E6B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4590288" y="3273552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Pemerintah nagori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90288" y="3877056"/>
            <a:ext cx="28712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FE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Validasi isi, kewenangan layanan, kontak dan pengelolaan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65008" y="2240280"/>
            <a:ext cx="3447288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25146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8293608" y="3273552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 pengembang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93608" y="3877056"/>
            <a:ext cx="28712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Desain, pembuatan, pengujian dan pendampingan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 /  INSTRUMEN WAWANCARA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Pertanyaan kunci untuk ketua RT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03504" y="141732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Gunakan pertanyaan terbuka agar kebutuhan nyata tidak diarahkan oleh asumsi pengembang.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6483096"/>
            <a:ext cx="11018520" cy="10973"/>
          </a:xfrm>
          <a:prstGeom prst="rect">
            <a:avLst/>
          </a:prstGeom>
          <a:solidFill>
            <a:srgbClr val="DCE8D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3796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NAGORI KARANG REJO  •  PROPOSAL WEBSITE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82528" y="65105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911096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0253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53312" y="1929384"/>
            <a:ext cx="10085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Informasi apa yang paling sering ditanyakan warga?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670048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DFF4E8"/>
          </a:solidFill>
          <a:ln w="12700">
            <a:solidFill>
              <a:srgbClr val="DFF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6148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53312" y="2688336"/>
            <a:ext cx="10085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Layanan atau pengurusan surat apa yang paling sering dibutuhkan?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3429000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204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53312" y="3447288"/>
            <a:ext cx="10085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Bagaimana pengumuman saat ini disampaikan kepada warga?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4187952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DFF4E8"/>
          </a:solidFill>
          <a:ln w="12700">
            <a:solidFill>
              <a:srgbClr val="DFF4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27939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53312" y="4206240"/>
            <a:ext cx="10085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Kendala komunikasi atau administrasi apa yang sering terjadi?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1520" y="4946904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03834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53312" y="4965192"/>
            <a:ext cx="10085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Fitur apa yang paling bermanfaat jika tersedia di website?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 /  PENCATATAN TEMUAN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Contoh rekap jawaban dan usulan fitur</a:t>
            </a:r>
          </a:p>
        </p:txBody>
      </p:sp>
      <p:sp>
        <p:nvSpPr>
          <p:cNvPr id="5" name="Text 3"/>
          <p:cNvSpPr/>
          <p:nvPr/>
        </p:nvSpPr>
        <p:spPr>
          <a:xfrm>
            <a:off x="603504" y="141732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Contoh pembahasan berdasarkan kebutuhan sistem; wajib dikonfirmasi kepada ketua RT.</a:t>
            </a:r>
          </a:p>
        </p:txBody>
      </p:sp>
      <p:sp>
        <p:nvSpPr>
          <p:cNvPr id="6" name="Shape 4"/>
          <p:cNvSpPr/>
          <p:nvPr/>
        </p:nvSpPr>
        <p:spPr>
          <a:xfrm>
            <a:off x="594360" y="6483096"/>
            <a:ext cx="11018520" cy="10973"/>
          </a:xfrm>
          <a:prstGeom prst="rect">
            <a:avLst/>
          </a:prstGeom>
          <a:solidFill>
            <a:srgbClr val="DCE8DF"/>
          </a:solidFill>
          <a:ln w="12700">
            <a:solidFill>
              <a:srgbClr val="DCE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653796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NAGORI KARANG REJO  •  PROPOSAL WEBSITE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82528" y="65105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020824"/>
            <a:ext cx="1920240" cy="557784"/>
          </a:xfrm>
          <a:prstGeom prst="rect">
            <a:avLst/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41248" y="2139696"/>
            <a:ext cx="1700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Aspek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2020824"/>
            <a:ext cx="4572000" cy="557784"/>
          </a:xfrm>
          <a:prstGeom prst="rect">
            <a:avLst/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852928" y="2139696"/>
            <a:ext cx="43525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dirty="0" err="1"/>
              <a:t>Contoh</a:t>
            </a:r>
            <a:r>
              <a:rPr dirty="0"/>
              <a:t> </a:t>
            </a:r>
            <a:r>
              <a:rPr dirty="0" err="1"/>
              <a:t>jawaban</a:t>
            </a:r>
            <a:endParaRPr dirty="0"/>
          </a:p>
        </p:txBody>
      </p:sp>
      <p:sp>
        <p:nvSpPr>
          <p:cNvPr id="13" name="Shape 11"/>
          <p:cNvSpPr/>
          <p:nvPr/>
        </p:nvSpPr>
        <p:spPr>
          <a:xfrm>
            <a:off x="7434072" y="2020824"/>
            <a:ext cx="3931920" cy="557784"/>
          </a:xfrm>
          <a:prstGeom prst="rect">
            <a:avLst/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543800" y="2139696"/>
            <a:ext cx="3712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Implikasi fitur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615184"/>
            <a:ext cx="19202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2743200" y="2615184"/>
            <a:ext cx="45720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434072" y="2615184"/>
            <a:ext cx="39319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32104" y="27797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Penyampaian informasi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2779776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Pengumuman perlu mudah ditemukan.</a:t>
            </a:r>
          </a:p>
        </p:txBody>
      </p:sp>
      <p:sp>
        <p:nvSpPr>
          <p:cNvPr id="20" name="Text 18"/>
          <p:cNvSpPr/>
          <p:nvPr/>
        </p:nvSpPr>
        <p:spPr>
          <a:xfrm>
            <a:off x="7571232" y="2779776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Halaman pengumuman warga.</a:t>
            </a:r>
          </a:p>
        </p:txBody>
      </p:sp>
      <p:sp>
        <p:nvSpPr>
          <p:cNvPr id="21" name="Shape 19"/>
          <p:cNvSpPr/>
          <p:nvPr/>
        </p:nvSpPr>
        <p:spPr>
          <a:xfrm>
            <a:off x="731520" y="3300984"/>
            <a:ext cx="1920240" cy="658368"/>
          </a:xfrm>
          <a:prstGeom prst="rect">
            <a:avLst/>
          </a:prstGeom>
          <a:solidFill>
            <a:srgbClr val="F8F7F2"/>
          </a:solidFill>
          <a:ln w="10160">
            <a:solidFill>
              <a:srgbClr val="DCE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2743200" y="3300984"/>
            <a:ext cx="4572000" cy="658368"/>
          </a:xfrm>
          <a:prstGeom prst="rect">
            <a:avLst/>
          </a:prstGeom>
          <a:solidFill>
            <a:srgbClr val="F8F7F2"/>
          </a:solidFill>
          <a:ln w="10160">
            <a:solidFill>
              <a:srgbClr val="DCE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434072" y="3300984"/>
            <a:ext cx="3931920" cy="658368"/>
          </a:xfrm>
          <a:prstGeom prst="rect">
            <a:avLst/>
          </a:prstGeom>
          <a:solidFill>
            <a:srgbClr val="F8F7F2"/>
          </a:solidFill>
          <a:ln w="10160">
            <a:solidFill>
              <a:srgbClr val="DCE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32104" y="34655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Administrasi warga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80360" y="3465576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Persyaratan surat perlu jelas.</a:t>
            </a:r>
          </a:p>
        </p:txBody>
      </p:sp>
      <p:sp>
        <p:nvSpPr>
          <p:cNvPr id="26" name="Text 24"/>
          <p:cNvSpPr/>
          <p:nvPr/>
        </p:nvSpPr>
        <p:spPr>
          <a:xfrm>
            <a:off x="7571232" y="3465576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Panduan surat dan kontak RT.</a:t>
            </a:r>
          </a:p>
        </p:txBody>
      </p:sp>
      <p:sp>
        <p:nvSpPr>
          <p:cNvPr id="27" name="Shape 25"/>
          <p:cNvSpPr/>
          <p:nvPr/>
        </p:nvSpPr>
        <p:spPr>
          <a:xfrm>
            <a:off x="731520" y="3986784"/>
            <a:ext cx="19202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2743200" y="3986784"/>
            <a:ext cx="45720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434072" y="3986784"/>
            <a:ext cx="39319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32104" y="41513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Aspirasi dan keluhan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80360" y="4151376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Keluhan banjir butuh kanal laporan.</a:t>
            </a:r>
          </a:p>
        </p:txBody>
      </p:sp>
      <p:sp>
        <p:nvSpPr>
          <p:cNvPr id="32" name="Text 30"/>
          <p:cNvSpPr/>
          <p:nvPr/>
        </p:nvSpPr>
        <p:spPr>
          <a:xfrm>
            <a:off x="7571232" y="4151376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Form lokasi, foto, status aduan.</a:t>
            </a:r>
          </a:p>
        </p:txBody>
      </p:sp>
      <p:sp>
        <p:nvSpPr>
          <p:cNvPr id="33" name="Shape 31"/>
          <p:cNvSpPr/>
          <p:nvPr/>
        </p:nvSpPr>
        <p:spPr>
          <a:xfrm>
            <a:off x="731520" y="4672584"/>
            <a:ext cx="1920240" cy="658368"/>
          </a:xfrm>
          <a:prstGeom prst="rect">
            <a:avLst/>
          </a:prstGeom>
          <a:solidFill>
            <a:srgbClr val="F8F7F2"/>
          </a:solidFill>
          <a:ln w="10160">
            <a:solidFill>
              <a:srgbClr val="DCE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2743200" y="4672584"/>
            <a:ext cx="4572000" cy="658368"/>
          </a:xfrm>
          <a:prstGeom prst="rect">
            <a:avLst/>
          </a:prstGeom>
          <a:solidFill>
            <a:srgbClr val="F8F7F2"/>
          </a:solidFill>
          <a:ln w="10160">
            <a:solidFill>
              <a:srgbClr val="DCE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7434072" y="4672584"/>
            <a:ext cx="3931920" cy="658368"/>
          </a:xfrm>
          <a:prstGeom prst="rect">
            <a:avLst/>
          </a:prstGeom>
          <a:solidFill>
            <a:srgbClr val="F8F7F2"/>
          </a:solidFill>
          <a:ln w="10160">
            <a:solidFill>
              <a:srgbClr val="DCE8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32104" y="48371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Prioritas fitur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880360" y="4837176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Prioritas: pengaduan dan informasi.</a:t>
            </a:r>
          </a:p>
        </p:txBody>
      </p:sp>
      <p:sp>
        <p:nvSpPr>
          <p:cNvPr id="38" name="Text 36"/>
          <p:cNvSpPr/>
          <p:nvPr/>
        </p:nvSpPr>
        <p:spPr>
          <a:xfrm>
            <a:off x="7571232" y="4837176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Pengaduan banjir dan layanan.</a:t>
            </a:r>
          </a:p>
        </p:txBody>
      </p:sp>
      <p:sp>
        <p:nvSpPr>
          <p:cNvPr id="39" name="Shape 37"/>
          <p:cNvSpPr/>
          <p:nvPr/>
        </p:nvSpPr>
        <p:spPr>
          <a:xfrm>
            <a:off x="731520" y="5715000"/>
            <a:ext cx="3108960" cy="329184"/>
          </a:xfrm>
          <a:prstGeom prst="roundRect">
            <a:avLst>
              <a:gd name="adj" fmla="val 36111"/>
            </a:avLst>
          </a:prstGeom>
          <a:solidFill>
            <a:srgbClr val="DFF4E8"/>
          </a:solidFill>
          <a:ln w="12700">
            <a:solidFill>
              <a:srgbClr val="DFF4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841248" y="5765292"/>
            <a:ext cx="2889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STATUS: CONTOH JAWABAN — MENUNGGU KONFIRMASI 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 /  PRIORITAS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Tahapan pengembangan yang realistis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03504" y="141732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Fitur dipilih secara bertahap untuk memudahkan uji coba dan pengelolaan.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6483096"/>
            <a:ext cx="11018520" cy="10973"/>
          </a:xfrm>
          <a:prstGeom prst="rect">
            <a:avLst/>
          </a:prstGeom>
          <a:solidFill>
            <a:srgbClr val="DCE8D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3796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NAGORI KARANG REJO  •  PROPOSAL WEBSITE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82528" y="65105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1965960"/>
            <a:ext cx="10652760" cy="822960"/>
          </a:xfrm>
          <a:prstGeom prst="roundRect">
            <a:avLst>
              <a:gd name="adj" fmla="val 1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2176272"/>
            <a:ext cx="1143000" cy="329184"/>
          </a:xfrm>
          <a:prstGeom prst="roundRect">
            <a:avLst>
              <a:gd name="adj" fmla="val 36111"/>
            </a:avLst>
          </a:prstGeom>
          <a:solidFill>
            <a:srgbClr val="E6B45B"/>
          </a:solidFill>
          <a:ln w="12700">
            <a:solidFill>
              <a:srgbClr val="E6B4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226564"/>
            <a:ext cx="9235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21031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Validasi kebutuhan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04104" y="2093976"/>
            <a:ext cx="5687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Wawancara RT dan konsultasi dengan pihak nagori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" y="2935224"/>
            <a:ext cx="10652760" cy="822960"/>
          </a:xfrm>
          <a:prstGeom prst="roundRect">
            <a:avLst>
              <a:gd name="adj" fmla="val 1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3145536"/>
            <a:ext cx="1143000" cy="329184"/>
          </a:xfrm>
          <a:prstGeom prst="roundRect">
            <a:avLst>
              <a:gd name="adj" fmla="val 36111"/>
            </a:avLst>
          </a:prstGeom>
          <a:solidFill>
            <a:srgbClr val="DFF4E8"/>
          </a:solidFill>
          <a:ln w="12700">
            <a:solidFill>
              <a:srgbClr val="DFF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3195828"/>
            <a:ext cx="9235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307238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Prototipe dan evaluasi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04104" y="3063240"/>
            <a:ext cx="5687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Uji tampilan, navigasi, dan kemudahan penggunaan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" y="3904488"/>
            <a:ext cx="10652760" cy="822960"/>
          </a:xfrm>
          <a:prstGeom prst="roundRect">
            <a:avLst>
              <a:gd name="adj" fmla="val 1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" y="4114800"/>
            <a:ext cx="1143000" cy="329184"/>
          </a:xfrm>
          <a:prstGeom prst="roundRect">
            <a:avLst>
              <a:gd name="adj" fmla="val 36111"/>
            </a:avLst>
          </a:prstGeom>
          <a:solidFill>
            <a:srgbClr val="DFF4E8"/>
          </a:solidFill>
          <a:ln w="12700">
            <a:solidFill>
              <a:srgbClr val="DFF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165092"/>
            <a:ext cx="9235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40416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Implementasi terbatas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04104" y="4032504"/>
            <a:ext cx="5687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Siapkan konten resmi dan tata kelola admin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" y="4873752"/>
            <a:ext cx="10652760" cy="822960"/>
          </a:xfrm>
          <a:prstGeom prst="roundRect">
            <a:avLst>
              <a:gd name="adj" fmla="val 1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976" y="5084064"/>
            <a:ext cx="1143000" cy="329184"/>
          </a:xfrm>
          <a:prstGeom prst="roundRect">
            <a:avLst>
              <a:gd name="adj" fmla="val 36111"/>
            </a:avLst>
          </a:prstGeom>
          <a:solidFill>
            <a:srgbClr val="DFF4E8"/>
          </a:solidFill>
          <a:ln w="12700">
            <a:solidFill>
              <a:srgbClr val="DFF4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5134356"/>
            <a:ext cx="9235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77440" y="50109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Pemeliharaan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04104" y="5001768"/>
            <a:ext cx="5687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Perbarui informasi, keamanan, dan layanan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 /  KEBUTUHAN KEPUTUSAN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 yang perlu disepakati bersama?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03504" y="141732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publik membutuhkan data terverifikasi, penanggung jawab, dan prosedur pembaruan.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6483096"/>
            <a:ext cx="11018520" cy="10973"/>
          </a:xfrm>
          <a:prstGeom prst="rect">
            <a:avLst/>
          </a:prstGeom>
          <a:solidFill>
            <a:srgbClr val="DCE8D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3796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NAGORI KARANG REJO  •  PROPOSAL WEBSITE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82528" y="65105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6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6656" y="2029968"/>
            <a:ext cx="5285232" cy="1444752"/>
          </a:xfrm>
          <a:prstGeom prst="roundRect">
            <a:avLst>
              <a:gd name="adj" fmla="val 94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224942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" y="27066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Profil, kontak, dokumen dan jadwal harus disetujui.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4496" y="2029968"/>
            <a:ext cx="5285232" cy="1444752"/>
          </a:xfrm>
          <a:prstGeom prst="roundRect">
            <a:avLst>
              <a:gd name="adj" fmla="val 94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224942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Pengelola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83096" y="27066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Tentukan admin dan mekanisme memperbarui informasi.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" y="3739896"/>
            <a:ext cx="5285232" cy="1444752"/>
          </a:xfrm>
          <a:prstGeom prst="roundRect">
            <a:avLst>
              <a:gd name="adj" fmla="val 94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39593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25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Privasi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5256" y="44165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C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Hindari menampilkan data pribadi warga tanpa dasar yang sah.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54496" y="3739896"/>
            <a:ext cx="5285232" cy="1444752"/>
          </a:xfrm>
          <a:prstGeom prst="roundRect">
            <a:avLst>
              <a:gd name="adj" fmla="val 9494"/>
            </a:avLst>
          </a:prstGeom>
          <a:solidFill>
            <a:srgbClr val="14664F"/>
          </a:solidFill>
          <a:ln w="12700">
            <a:solidFill>
              <a:srgbClr val="1466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83096" y="39593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Implementasi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83096" y="44165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1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Sepakati domain, hosting, pengujian, dan biaya setelah kebutuhan jelas.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6B45B"/>
          </a:solidFill>
          <a:ln w="12700">
            <a:solidFill>
              <a:srgbClr val="E6B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813816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B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LANGKAH SELANJUTNYA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8096" y="1417320"/>
            <a:ext cx="106984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Dari usulan menjadi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layanan yang bermanfaat.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86384" y="3401568"/>
            <a:ext cx="10030968" cy="16459"/>
          </a:xfrm>
          <a:prstGeom prst="rect">
            <a:avLst/>
          </a:prstGeom>
          <a:solidFill>
            <a:srgbClr val="537D73"/>
          </a:solidFill>
          <a:ln w="12700">
            <a:solidFill>
              <a:srgbClr val="537D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385876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DCF3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Wawancara RT     2  Validasi dengan nagori     3  Perbaikan prototipe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95528" y="600760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1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Nagori Karang Rejo  •  Kecamatan Gunung Maligas  •  Kabupaten Simalungun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7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27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862"/>
                </a:solidFill>
              </a:defRPr>
            </a:pPr>
            <a:r>
              <a:t>DOKUMENTASI LAPANGAN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3039"/>
                </a:solidFill>
              </a:defRPr>
            </a:pPr>
            <a:r>
              <a:t>Kunjungan dan dokumentasi kegiatan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1127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B6F6E"/>
                </a:solidFill>
              </a:defRPr>
            </a:pPr>
            <a:r>
              <a:t>Foto asli dari dokumentasi yang diberikan — bukan gambar AI.</a:t>
            </a:r>
          </a:p>
        </p:txBody>
      </p:sp>
      <p:pic>
        <p:nvPicPr>
          <p:cNvPr id="7" name="Picture 6" descr="image(20261020-085643).png"/>
          <p:cNvPicPr>
            <a:picLocks noChangeAspect="1"/>
          </p:cNvPicPr>
          <p:nvPr/>
        </p:nvPicPr>
        <p:blipFill>
          <a:blip r:embed="rId2"/>
          <a:srcRect t="277" b="277"/>
          <a:stretch>
            <a:fillRect/>
          </a:stretch>
        </p:blipFill>
        <p:spPr>
          <a:xfrm>
            <a:off x="502920" y="1938528"/>
            <a:ext cx="5492496" cy="4096512"/>
          </a:xfrm>
          <a:prstGeom prst="rect">
            <a:avLst/>
          </a:prstGeom>
        </p:spPr>
      </p:pic>
      <p:pic>
        <p:nvPicPr>
          <p:cNvPr id="8" name="Picture 7" descr="image(20261020-085654).png"/>
          <p:cNvPicPr>
            <a:picLocks noChangeAspect="1"/>
          </p:cNvPicPr>
          <p:nvPr/>
        </p:nvPicPr>
        <p:blipFill>
          <a:blip r:embed="rId3"/>
          <a:srcRect t="277" b="277"/>
          <a:stretch>
            <a:fillRect/>
          </a:stretch>
        </p:blipFill>
        <p:spPr>
          <a:xfrm>
            <a:off x="6196584" y="1938528"/>
            <a:ext cx="5492496" cy="4096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7" y="6327648"/>
            <a:ext cx="112776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C6362"/>
                </a:solidFill>
              </a:defRPr>
            </a:pPr>
            <a:r>
              <a:t>Dokumentasi untuk mendukung pembahasan kebutuhan website dan kanal pengaduan banjir.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92240"/>
            <a:ext cx="10058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1555C"/>
                </a:solidFill>
              </a:defRPr>
            </a:pPr>
            <a:r>
              <a:t>Dokumentasi kelompok 23S03 — Suci Alfisyahri Chaniago, Naza Ezirah, Khabib Sani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7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27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862"/>
                </a:solidFill>
              </a:defRPr>
            </a:pPr>
            <a:r>
              <a:t>OBSERVASI PERMASALAHAN BANJIR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277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3039"/>
                </a:solidFill>
              </a:defRPr>
            </a:pPr>
            <a:r>
              <a:t>Kondisi genangan air di lingkungan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1127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B6F6E"/>
                </a:solidFill>
              </a:defRPr>
            </a:pPr>
            <a:r>
              <a:t>Foto asli dari dokumentasi yang diberikan — bukan gambar AI.</a:t>
            </a:r>
          </a:p>
        </p:txBody>
      </p:sp>
      <p:pic>
        <p:nvPicPr>
          <p:cNvPr id="7" name="Picture 6" descr="image(20261020-085703).png"/>
          <p:cNvPicPr>
            <a:picLocks noChangeAspect="1"/>
          </p:cNvPicPr>
          <p:nvPr/>
        </p:nvPicPr>
        <p:blipFill>
          <a:blip r:embed="rId2"/>
          <a:srcRect t="22031" b="22031"/>
          <a:stretch>
            <a:fillRect/>
          </a:stretch>
        </p:blipFill>
        <p:spPr>
          <a:xfrm>
            <a:off x="502920" y="1938528"/>
            <a:ext cx="5492496" cy="4096512"/>
          </a:xfrm>
          <a:prstGeom prst="rect">
            <a:avLst/>
          </a:prstGeom>
        </p:spPr>
      </p:pic>
      <p:pic>
        <p:nvPicPr>
          <p:cNvPr id="8" name="Picture 7" descr="image(20261020-085714).png"/>
          <p:cNvPicPr>
            <a:picLocks noChangeAspect="1"/>
          </p:cNvPicPr>
          <p:nvPr/>
        </p:nvPicPr>
        <p:blipFill>
          <a:blip r:embed="rId3"/>
          <a:srcRect t="22031" b="22031"/>
          <a:stretch>
            <a:fillRect/>
          </a:stretch>
        </p:blipFill>
        <p:spPr>
          <a:xfrm>
            <a:off x="6196584" y="1938528"/>
            <a:ext cx="5492496" cy="4096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7" y="6327648"/>
            <a:ext cx="1127760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4C6362"/>
                </a:solidFill>
              </a:defRPr>
            </a:pPr>
            <a:r>
              <a:t>Dokumentasi untuk mendukung pembahasan kebutuhan website dan kanal pengaduan banjir.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760"/>
                </a:solidFill>
                <a:latin typeface="Aptos"/>
              </a:defRPr>
            </a:pPr>
            <a:r>
              <a:t>15  /  CONTOH JAWABAN WAWANCARA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43F"/>
                </a:solidFill>
                <a:latin typeface="Aptos"/>
              </a:defRPr>
            </a:pPr>
            <a:r>
              <a:t>Apa kebutuhan utama warga?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66571"/>
                </a:solidFill>
                <a:latin typeface="Aptos"/>
              </a:defRPr>
            </a:pPr>
            <a:r>
              <a:t>Contoh jawaban untuk didiskusikan dengan RT — bukan transkrip wawancara asli.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66571"/>
                </a:solidFill>
                <a:latin typeface="Aptos"/>
              </a:defRPr>
            </a:pPr>
            <a:r>
              <a:t>NAGORI KARANG REJO   |  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56816"/>
            <a:ext cx="5440680" cy="16093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956816"/>
            <a:ext cx="59436" cy="1609344"/>
          </a:xfrm>
          <a:prstGeom prst="rect">
            <a:avLst/>
          </a:prstGeom>
          <a:solidFill>
            <a:srgbClr val="00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130552"/>
            <a:ext cx="5001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43F"/>
                </a:solidFill>
                <a:latin typeface="Aptos"/>
              </a:defRPr>
            </a:pPr>
            <a:r>
              <a:t>Q1. Kendala informasi warga?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624328"/>
            <a:ext cx="500176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66571"/>
                </a:solidFill>
                <a:latin typeface="Aptos"/>
              </a:defRPr>
            </a:pPr>
            <a:r>
              <a:t>Contoh jawaban: Informasi pengumuman dan persyaratan surat sebaiknya tersedia pada satu tempat yang mudah diakses.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956816"/>
            <a:ext cx="5440680" cy="16093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956816"/>
            <a:ext cx="59436" cy="1609344"/>
          </a:xfrm>
          <a:prstGeom prst="rect">
            <a:avLst/>
          </a:prstGeom>
          <a:solidFill>
            <a:srgbClr val="00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2130552"/>
            <a:ext cx="5001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43F"/>
                </a:solidFill>
                <a:latin typeface="Aptos"/>
              </a:defRPr>
            </a:pPr>
            <a:r>
              <a:t>Q2. Pelayanan apa yang dibutuhkan?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624328"/>
            <a:ext cx="500176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66571"/>
                </a:solidFill>
                <a:latin typeface="Aptos"/>
              </a:defRPr>
            </a:pPr>
            <a:r>
              <a:t>Contoh jawaban: Panduan surat pengantar, jadwal pelayanan, kontak pengurus, dan informasi administrasi.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67328"/>
            <a:ext cx="5440680" cy="16093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767328"/>
            <a:ext cx="59436" cy="1609344"/>
          </a:xfrm>
          <a:prstGeom prst="rect">
            <a:avLst/>
          </a:prstGeom>
          <a:solidFill>
            <a:srgbClr val="00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" y="3941064"/>
            <a:ext cx="5001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43F"/>
                </a:solidFill>
                <a:latin typeface="Aptos"/>
              </a:defRPr>
            </a:pPr>
            <a:r>
              <a:t>Q3. Bagaimana keluhan disampaikan?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4434840"/>
            <a:ext cx="500176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66571"/>
                </a:solidFill>
                <a:latin typeface="Aptos"/>
              </a:defRPr>
            </a:pPr>
            <a:r>
              <a:t>Contoh jawaban: Warga perlu pilihan melapor lewat RT maupun melalui formulir sederhana secara daring.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767328"/>
            <a:ext cx="5440680" cy="16093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26480" y="3767328"/>
            <a:ext cx="59436" cy="1609344"/>
          </a:xfrm>
          <a:prstGeom prst="rect">
            <a:avLst/>
          </a:prstGeom>
          <a:solidFill>
            <a:srgbClr val="00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45936" y="3941064"/>
            <a:ext cx="5001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43F"/>
                </a:solidFill>
                <a:latin typeface="Aptos"/>
              </a:defRPr>
            </a:pPr>
            <a:r>
              <a:t>Q4. Apa hambatan penggunaan?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4434840"/>
            <a:ext cx="5001768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66571"/>
                </a:solidFill>
                <a:latin typeface="Aptos"/>
              </a:defRPr>
            </a:pPr>
            <a:r>
              <a:t>Contoh jawaban: Akses internet, keterbiasaan warga, dan tindak lanjut laporan perlu dipertimbangkan.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760"/>
                </a:solidFill>
                <a:latin typeface="Aptos"/>
              </a:defRPr>
            </a:pPr>
            <a:r>
              <a:t>16  /  CONTOH JAWABAN WAWANCARA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43F"/>
                </a:solidFill>
                <a:latin typeface="Aptos"/>
              </a:defRPr>
            </a:pPr>
            <a:r>
              <a:t>Fokus pengaduan dan penanggulangan banjir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66571"/>
                </a:solidFill>
                <a:latin typeface="Aptos"/>
              </a:defRPr>
            </a:pPr>
            <a:r>
              <a:t>Jawaban bersifat ilustratif; perlu verifikasi dengan RT mengenai prosedur sebenarnya.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66571"/>
                </a:solidFill>
                <a:latin typeface="Aptos"/>
              </a:defRPr>
            </a:pPr>
            <a:r>
              <a:t>NAGORI KARANG REJO   |  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75104"/>
            <a:ext cx="5440680" cy="1636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975104"/>
            <a:ext cx="59436" cy="1636776"/>
          </a:xfrm>
          <a:prstGeom prst="rect">
            <a:avLst/>
          </a:prstGeom>
          <a:solidFill>
            <a:srgbClr val="00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148840"/>
            <a:ext cx="5001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43F"/>
                </a:solidFill>
                <a:latin typeface="Aptos"/>
              </a:defRPr>
            </a:pPr>
            <a:r>
              <a:t>Q5. Masalah lingkungan yang menjadi perhatian?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642616"/>
            <a:ext cx="5001768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66571"/>
                </a:solidFill>
                <a:latin typeface="Aptos"/>
              </a:defRPr>
            </a:pPr>
            <a:r>
              <a:t>Contoh jawaban: Adanya genangan air di jalan perlu didokumentasikan agar lokasi dan dampaknya mudah dilaporkan.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975104"/>
            <a:ext cx="5440680" cy="1636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975104"/>
            <a:ext cx="59436" cy="1636776"/>
          </a:xfrm>
          <a:prstGeom prst="rect">
            <a:avLst/>
          </a:prstGeom>
          <a:solidFill>
            <a:srgbClr val="00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2148840"/>
            <a:ext cx="5001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43F"/>
                </a:solidFill>
                <a:latin typeface="Aptos"/>
              </a:defRPr>
            </a:pPr>
            <a:r>
              <a:t>Q6. Apa isi laporan banjir yang berguna?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642616"/>
            <a:ext cx="5001768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66571"/>
                </a:solidFill>
                <a:latin typeface="Aptos"/>
              </a:defRPr>
            </a:pPr>
            <a:r>
              <a:t>Contoh jawaban: Nama pelapor, lokasi, waktu kejadian, ketinggian genangan secara perkiraan, foto, dan dampak.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94760"/>
            <a:ext cx="5440680" cy="1636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794760"/>
            <a:ext cx="59436" cy="1636776"/>
          </a:xfrm>
          <a:prstGeom prst="rect">
            <a:avLst/>
          </a:prstGeom>
          <a:solidFill>
            <a:srgbClr val="00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" y="3968496"/>
            <a:ext cx="5001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43F"/>
                </a:solidFill>
                <a:latin typeface="Aptos"/>
              </a:defRPr>
            </a:pPr>
            <a:r>
              <a:t>Q7. Siapa yang memeriksa laporan?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4462272"/>
            <a:ext cx="5001768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66571"/>
                </a:solidFill>
                <a:latin typeface="Aptos"/>
              </a:defRPr>
            </a:pPr>
            <a:r>
              <a:t>Usulan: RT menerima informasi awal, lalu berkoordinasi dengan perangkat nagori atau instansi berwenang.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794760"/>
            <a:ext cx="5440680" cy="1636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26480" y="3794760"/>
            <a:ext cx="59436" cy="1636776"/>
          </a:xfrm>
          <a:prstGeom prst="rect">
            <a:avLst/>
          </a:prstGeom>
          <a:solidFill>
            <a:srgbClr val="00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45936" y="3968496"/>
            <a:ext cx="50017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43F"/>
                </a:solidFill>
                <a:latin typeface="Aptos"/>
              </a:defRPr>
            </a:pPr>
            <a:r>
              <a:t>Q8. Bagaimana warga tahu perkembangannya?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4462272"/>
            <a:ext cx="5001768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66571"/>
                </a:solidFill>
                <a:latin typeface="Aptos"/>
              </a:defRPr>
            </a:pPr>
            <a:r>
              <a:t>Usulan: Ada nomor laporan dan status seperti diterima, diperiksa, diteruskan, atau selesai.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760"/>
                </a:solidFill>
                <a:latin typeface="Aptos"/>
              </a:defRPr>
            </a:pPr>
            <a:r>
              <a:t>17  /  OBSERVASI DAN ANALISIS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43F"/>
                </a:solidFill>
                <a:latin typeface="Aptos"/>
              </a:defRPr>
            </a:pPr>
            <a:r>
              <a:t>Hasil pengamatan dan kebutuhan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66571"/>
                </a:solidFill>
                <a:latin typeface="Aptos"/>
              </a:defRPr>
            </a:pPr>
            <a:r>
              <a:t>Pisahkan temuan yang terlihat pada foto dari interpretasi dan rencana solusi.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66571"/>
                </a:solidFill>
                <a:latin typeface="Aptos"/>
              </a:defRPr>
            </a:pPr>
            <a:r>
              <a:t>NAGORI KARANG REJO   |  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" y="1874519"/>
            <a:ext cx="11109960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048255"/>
            <a:ext cx="18470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07760"/>
                </a:solidFill>
                <a:latin typeface="Aptos"/>
              </a:defRPr>
            </a:pPr>
            <a:r>
              <a:t>BUKTI VISUAL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0632" y="2020824"/>
            <a:ext cx="3895344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0243F"/>
                </a:solidFill>
                <a:latin typeface="Aptos"/>
              </a:defRPr>
            </a:pPr>
            <a:r>
              <a:t>Foto menunjukkan air menggenangi bagian jalan di lokasi dokumentasi.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020824"/>
            <a:ext cx="4297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66571"/>
                </a:solidFill>
                <a:latin typeface="Aptos"/>
              </a:defRPr>
            </a:pPr>
            <a:r>
              <a:t>Kanal laporan dengan lampiran foto dan lokasi.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7" y="3145535"/>
            <a:ext cx="11109960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319271"/>
            <a:ext cx="18470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07760"/>
                </a:solidFill>
                <a:latin typeface="Aptos"/>
              </a:defRPr>
            </a:pPr>
            <a:r>
              <a:t>POTENSI DAMPAK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3291839"/>
            <a:ext cx="3895344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0243F"/>
                </a:solidFill>
                <a:latin typeface="Aptos"/>
              </a:defRPr>
            </a:pPr>
            <a:r>
              <a:t>Genangan berpotensi mengganggu mobilitas warga; besarnya dampak belum diukur.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3291839"/>
            <a:ext cx="4297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66571"/>
                </a:solidFill>
                <a:latin typeface="Aptos"/>
              </a:defRPr>
            </a:pPr>
            <a:r>
              <a:t>Kategori urgensi dan keterangan akses jalan.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7" y="4416552"/>
            <a:ext cx="11109960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4590288"/>
            <a:ext cx="18470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07760"/>
                </a:solidFill>
                <a:latin typeface="Aptos"/>
              </a:defRPr>
            </a:pPr>
            <a:r>
              <a:t>KEBUTUHAN KOORDINASI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4562856"/>
            <a:ext cx="3895344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10243F"/>
                </a:solidFill>
                <a:latin typeface="Aptos"/>
              </a:defRPr>
            </a:pPr>
            <a:r>
              <a:t>Mekanisme tindak lanjut resmi belum dikonfirmasi melalui wawancara.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562856"/>
            <a:ext cx="4297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66571"/>
                </a:solidFill>
                <a:latin typeface="Aptos"/>
              </a:defRPr>
            </a:pPr>
            <a:r>
              <a:t>Alur verifikasi RT dan eskalasi ke pihak berwenang.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760"/>
                </a:solidFill>
                <a:latin typeface="Aptos"/>
              </a:defRPr>
            </a:pPr>
            <a:r>
              <a:t>18  /  HASIL PEMBAHASAN (DRAF)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43F"/>
                </a:solidFill>
                <a:latin typeface="Aptos"/>
              </a:defRPr>
            </a:pPr>
            <a:r>
              <a:t>Prioritas pengembangan 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66571"/>
                </a:solidFill>
                <a:latin typeface="Aptos"/>
              </a:defRPr>
            </a:pPr>
            <a:r>
              <a:t>Rangkuman usulan yang dapat diajukan kepada RT untuk persetujuan.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66571"/>
                </a:solidFill>
                <a:latin typeface="Aptos"/>
              </a:defRPr>
            </a:pPr>
            <a:r>
              <a:t>NAGORI KARANG REJO   |  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975104"/>
            <a:ext cx="353872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" y="1975104"/>
            <a:ext cx="59436" cy="2880360"/>
          </a:xfrm>
          <a:prstGeom prst="rect">
            <a:avLst/>
          </a:prstGeom>
          <a:solidFill>
            <a:srgbClr val="00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148840"/>
            <a:ext cx="3099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43F"/>
                </a:solidFill>
                <a:latin typeface="Aptos"/>
              </a:defRPr>
            </a:pPr>
            <a:r>
              <a:t>PRIORITAS 1</a:t>
            </a:r>
          </a:p>
          <a:p>
            <a:pPr>
              <a:spcAft>
                <a:spcPts val="700"/>
              </a:spcAft>
              <a:defRPr sz="1600" b="1">
                <a:solidFill>
                  <a:srgbClr val="10243F"/>
                </a:solidFill>
                <a:latin typeface="Aptos"/>
              </a:defRPr>
            </a:pPr>
            <a:r>
              <a:t>Pengaduan banjir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42616"/>
            <a:ext cx="3099816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66571"/>
                </a:solidFill>
                <a:latin typeface="Aptos"/>
              </a:defRPr>
            </a:pPr>
            <a:r>
              <a:t>Form sederhana, lokasi kejadian, unggah dokumentasi, kategori masalah, serta nomor laporan.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975104"/>
            <a:ext cx="353872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88536" y="1975104"/>
            <a:ext cx="59436" cy="2880360"/>
          </a:xfrm>
          <a:prstGeom prst="rect">
            <a:avLst/>
          </a:prstGeom>
          <a:solidFill>
            <a:srgbClr val="00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2148840"/>
            <a:ext cx="3099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43F"/>
                </a:solidFill>
                <a:latin typeface="Aptos"/>
              </a:defRPr>
            </a:pPr>
            <a:r>
              <a:t>PRIORITAS 2</a:t>
            </a:r>
          </a:p>
          <a:p>
            <a:pPr>
              <a:spcAft>
                <a:spcPts val="700"/>
              </a:spcAft>
              <a:defRPr sz="1600" b="1">
                <a:solidFill>
                  <a:srgbClr val="10243F"/>
                </a:solidFill>
                <a:latin typeface="Aptos"/>
              </a:defRPr>
            </a:pPr>
            <a:r>
              <a:t>Informasi layanan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642616"/>
            <a:ext cx="3099816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66571"/>
                </a:solidFill>
                <a:latin typeface="Aptos"/>
              </a:defRPr>
            </a:pPr>
            <a:r>
              <a:t>Syarat surat pengantar, pengumuman, kontak, jam pelayanan dan panduan administrasi.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75104"/>
            <a:ext cx="3538728" cy="2880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975104"/>
            <a:ext cx="59436" cy="2880360"/>
          </a:xfrm>
          <a:prstGeom prst="rect">
            <a:avLst/>
          </a:prstGeom>
          <a:solidFill>
            <a:srgbClr val="00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6176" y="2148840"/>
            <a:ext cx="3099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43F"/>
                </a:solidFill>
                <a:latin typeface="Aptos"/>
              </a:defRPr>
            </a:pPr>
            <a:r>
              <a:t>PRIORITAS 3</a:t>
            </a:r>
          </a:p>
          <a:p>
            <a:pPr>
              <a:spcAft>
                <a:spcPts val="700"/>
              </a:spcAft>
              <a:defRPr sz="1600" b="1">
                <a:solidFill>
                  <a:srgbClr val="10243F"/>
                </a:solidFill>
                <a:latin typeface="Aptos"/>
              </a:defRPr>
            </a:pPr>
            <a:r>
              <a:t>Status tindak lanjut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642616"/>
            <a:ext cx="3099816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66571"/>
                </a:solidFill>
                <a:latin typeface="Aptos"/>
              </a:defRPr>
            </a:pPr>
            <a:r>
              <a:t>Panel petugas, verifikasi, rujukan laporan kepada pihak terkait, dan pemberitahuan status.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76088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66571"/>
                </a:solidFill>
                <a:latin typeface="Aptos"/>
              </a:defRPr>
            </a:pPr>
            <a:r>
              <a:t>Catatan: fitur resmi memerlukan admin, kebijakan privasi, prosedur penanganan, dan persetujuan pemerintah nagori.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7760"/>
                </a:solidFill>
                <a:latin typeface="Aptos"/>
              </a:defRPr>
            </a:pPr>
            <a:r>
              <a:t>19  /  KESIMPULAN DAN VALIDASI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0243F"/>
                </a:solidFill>
                <a:latin typeface="Aptos"/>
              </a:defRPr>
            </a:pPr>
            <a:r>
              <a:t>Kesimpulan presentasi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66571"/>
                </a:solidFill>
                <a:latin typeface="Aptos"/>
              </a:defRPr>
            </a:pPr>
            <a:r>
              <a:t>Usulan didasarkan pada kebutuhan layanan digital dan dokumentasi genangan 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566571"/>
                </a:solidFill>
                <a:latin typeface="Aptos"/>
              </a:defRPr>
            </a:pPr>
            <a:r>
              <a:t>NAGORI KARANG REJO   |  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920240"/>
            <a:ext cx="6638544" cy="3035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" y="1920240"/>
            <a:ext cx="59436" cy="3035808"/>
          </a:xfrm>
          <a:prstGeom prst="rect">
            <a:avLst/>
          </a:prstGeom>
          <a:solidFill>
            <a:srgbClr val="00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093976"/>
            <a:ext cx="61996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43F"/>
                </a:solidFill>
                <a:latin typeface="Aptos"/>
              </a:defRPr>
            </a:pPr>
            <a:r>
              <a:t>Kesimpulan sementara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87752"/>
            <a:ext cx="6199631" cy="23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66571"/>
                </a:solidFill>
                <a:latin typeface="Aptos"/>
              </a:defRPr>
            </a:pPr>
            <a:r>
              <a:t>Website dapat menjadi media informasi nagori sekaligus sarana pengaduan banjir yang lebih terstruktur. Dokumentasi foto mendukung alasan perlunya mekanisme pelaporan, tetapi belum membuktikan frekuensi, penyebab, atau tingkat risiko banjir.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70064" y="1920240"/>
            <a:ext cx="4224528" cy="3035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70064" y="1920240"/>
            <a:ext cx="59436" cy="3035808"/>
          </a:xfrm>
          <a:prstGeom prst="rect">
            <a:avLst/>
          </a:prstGeom>
          <a:solidFill>
            <a:srgbClr val="00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0" y="2093976"/>
            <a:ext cx="37856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0243F"/>
                </a:solidFill>
                <a:latin typeface="Aptos"/>
              </a:defRPr>
            </a:pPr>
            <a:r>
              <a:t>Yang harus dikonfirmasi ke 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587752"/>
            <a:ext cx="3785616" cy="2304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66571"/>
                </a:solidFill>
                <a:latin typeface="Aptos"/>
              </a:defRPr>
            </a:pPr>
            <a:r>
              <a:t>Titik dan riwayat banjir; alur laporan yang berlaku; pihak penanggung jawab; kelayakan penggunaan website; dan izin penggunaan data/foto.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" y="5330952"/>
            <a:ext cx="11018520" cy="649224"/>
          </a:xfrm>
          <a:prstGeom prst="roundRect">
            <a:avLst/>
          </a:prstGeom>
          <a:solidFill>
            <a:srgbClr val="00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5495544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STATUS: CONTOH JAWABAN / DRAF ANALISIS — BELUM HASIL WAWANCARA TERKONFIRMASI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17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100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25C"/>
                </a:solidFill>
              </a:defRPr>
            </a:pPr>
            <a:r>
              <a:t>20  /  CONTOH JAWABAN WAWANCARA 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95528"/>
            <a:ext cx="1100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22B40"/>
                </a:solidFill>
              </a:defRPr>
            </a:pPr>
            <a:r>
              <a:t>Pertanyaan dan jawaban: kebutuhan warga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44752"/>
            <a:ext cx="1100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A5662"/>
                </a:solidFill>
              </a:defRPr>
            </a:pPr>
            <a:r>
              <a:t>Contoh jawaban untuk bahan diskusi — belum dinyatakan oleh narasumber.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938528"/>
            <a:ext cx="10984992" cy="744321"/>
          </a:xfrm>
          <a:prstGeom prst="roundRect">
            <a:avLst/>
          </a:prstGeom>
          <a:solidFill>
            <a:srgbClr val="FFFFFF"/>
          </a:solidFill>
          <a:ln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048256"/>
            <a:ext cx="10600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2B40"/>
                </a:solidFill>
              </a:defRPr>
            </a:pPr>
            <a:r>
              <a:t>1. Informasi apa yang paling sering ditanyakan warga?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368296"/>
            <a:ext cx="10600944" cy="259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A5662"/>
                </a:solidFill>
              </a:defRPr>
            </a:pPr>
            <a:r>
              <a:rPr dirty="0"/>
              <a:t>Jadwal </a:t>
            </a:r>
            <a:r>
              <a:rPr dirty="0" err="1"/>
              <a:t>pelayanan</a:t>
            </a:r>
            <a:r>
              <a:rPr dirty="0"/>
              <a:t>, </a:t>
            </a:r>
            <a:r>
              <a:rPr dirty="0" err="1"/>
              <a:t>pengumuman</a:t>
            </a:r>
            <a:r>
              <a:rPr dirty="0"/>
              <a:t> </a:t>
            </a:r>
            <a:r>
              <a:rPr dirty="0" err="1"/>
              <a:t>kegiatan</a:t>
            </a:r>
            <a:r>
              <a:rPr dirty="0"/>
              <a:t>, dan </a:t>
            </a:r>
            <a:r>
              <a:rPr dirty="0" err="1"/>
              <a:t>persyaratan</a:t>
            </a:r>
            <a:r>
              <a:rPr dirty="0"/>
              <a:t> </a:t>
            </a:r>
            <a:r>
              <a:rPr dirty="0" err="1"/>
              <a:t>pengurusan</a:t>
            </a:r>
            <a:r>
              <a:rPr dirty="0"/>
              <a:t> </a:t>
            </a:r>
            <a:r>
              <a:rPr dirty="0" err="1"/>
              <a:t>surat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801721"/>
            <a:ext cx="10984992" cy="744321"/>
          </a:xfrm>
          <a:prstGeom prst="roundRect">
            <a:avLst/>
          </a:prstGeom>
          <a:solidFill>
            <a:srgbClr val="FFFFFF"/>
          </a:solidFill>
          <a:ln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2911449"/>
            <a:ext cx="10600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2B40"/>
                </a:solidFill>
              </a:defRPr>
            </a:pPr>
            <a:r>
              <a:t>2. Surat atau layanan apa yang paling sering diperlukan?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231489"/>
            <a:ext cx="10600944" cy="259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A5662"/>
                </a:solidFill>
              </a:defRPr>
            </a:pPr>
            <a:r>
              <a:rPr dirty="0"/>
              <a:t>Surat </a:t>
            </a:r>
            <a:r>
              <a:rPr dirty="0" err="1"/>
              <a:t>pengantar</a:t>
            </a:r>
            <a:r>
              <a:rPr dirty="0"/>
              <a:t> dan </a:t>
            </a:r>
            <a:r>
              <a:rPr dirty="0" err="1"/>
              <a:t>informasi</a:t>
            </a:r>
            <a:r>
              <a:rPr dirty="0"/>
              <a:t> </a:t>
            </a:r>
            <a:r>
              <a:rPr dirty="0" err="1"/>
              <a:t>persyaratan</a:t>
            </a:r>
            <a:r>
              <a:rPr dirty="0"/>
              <a:t> </a:t>
            </a:r>
            <a:r>
              <a:rPr dirty="0" err="1"/>
              <a:t>administrasi</a:t>
            </a:r>
            <a:r>
              <a:rPr dirty="0"/>
              <a:t> </a:t>
            </a:r>
            <a:r>
              <a:rPr dirty="0" err="1"/>
              <a:t>kependudukan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3664915"/>
            <a:ext cx="10984992" cy="744321"/>
          </a:xfrm>
          <a:prstGeom prst="roundRect">
            <a:avLst/>
          </a:prstGeom>
          <a:solidFill>
            <a:srgbClr val="FFFFFF"/>
          </a:solidFill>
          <a:ln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3774643"/>
            <a:ext cx="10600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2B40"/>
                </a:solidFill>
              </a:defRPr>
            </a:pPr>
            <a:r>
              <a:t>3. Bagaimana pengumuman saat ini disampaikan?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094683"/>
            <a:ext cx="10600944" cy="259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A5662"/>
                </a:solidFill>
              </a:defRPr>
            </a:pPr>
            <a:r>
              <a:rPr dirty="0" err="1"/>
              <a:t>Melalui</a:t>
            </a:r>
            <a:r>
              <a:rPr dirty="0"/>
              <a:t> </a:t>
            </a:r>
            <a:r>
              <a:rPr dirty="0" err="1"/>
              <a:t>komunikasi</a:t>
            </a:r>
            <a:r>
              <a:rPr dirty="0"/>
              <a:t> </a:t>
            </a:r>
            <a:r>
              <a:rPr dirty="0" err="1"/>
              <a:t>langsung</a:t>
            </a:r>
            <a:r>
              <a:rPr dirty="0"/>
              <a:t> </a:t>
            </a:r>
            <a:r>
              <a:rPr dirty="0" err="1"/>
              <a:t>atau</a:t>
            </a:r>
            <a:r>
              <a:rPr dirty="0"/>
              <a:t> </a:t>
            </a:r>
            <a:r>
              <a:rPr dirty="0" err="1"/>
              <a:t>grup</a:t>
            </a:r>
            <a:r>
              <a:rPr dirty="0"/>
              <a:t> </a:t>
            </a:r>
            <a:r>
              <a:rPr dirty="0" err="1"/>
              <a:t>pesan</a:t>
            </a:r>
            <a:r>
              <a:rPr dirty="0"/>
              <a:t>; website </a:t>
            </a:r>
            <a:r>
              <a:rPr dirty="0" err="1"/>
              <a:t>diusulkan</a:t>
            </a:r>
            <a:r>
              <a:rPr dirty="0"/>
              <a:t> </a:t>
            </a:r>
            <a:r>
              <a:rPr dirty="0" err="1"/>
              <a:t>sebagai</a:t>
            </a:r>
            <a:r>
              <a:rPr dirty="0"/>
              <a:t> </a:t>
            </a:r>
            <a:r>
              <a:rPr dirty="0" err="1"/>
              <a:t>kanal</a:t>
            </a:r>
            <a:r>
              <a:rPr dirty="0"/>
              <a:t> </a:t>
            </a:r>
            <a:r>
              <a:rPr dirty="0" err="1"/>
              <a:t>pelengkap</a:t>
            </a:r>
            <a:r>
              <a:rPr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4528108"/>
            <a:ext cx="10984992" cy="744321"/>
          </a:xfrm>
          <a:prstGeom prst="roundRect">
            <a:avLst/>
          </a:prstGeom>
          <a:solidFill>
            <a:srgbClr val="FFFFFF"/>
          </a:solidFill>
          <a:ln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4637836"/>
            <a:ext cx="10600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2B40"/>
                </a:solidFill>
              </a:defRPr>
            </a:pPr>
            <a:r>
              <a:t>4. Apa kendala dalam komunikasi dengan warga?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957876"/>
            <a:ext cx="10600944" cy="259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A5662"/>
                </a:solidFill>
              </a:defRPr>
            </a:pPr>
            <a:r>
              <a:rPr dirty="0" err="1"/>
              <a:t>Informasi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selalu</a:t>
            </a:r>
            <a:r>
              <a:rPr dirty="0"/>
              <a:t> </a:t>
            </a:r>
            <a:r>
              <a:rPr dirty="0" err="1"/>
              <a:t>menjangkau</a:t>
            </a:r>
            <a:r>
              <a:rPr dirty="0"/>
              <a:t> </a:t>
            </a:r>
            <a:r>
              <a:rPr dirty="0" err="1"/>
              <a:t>semua</a:t>
            </a:r>
            <a:r>
              <a:rPr dirty="0"/>
              <a:t> </a:t>
            </a:r>
            <a:r>
              <a:rPr dirty="0" err="1"/>
              <a:t>warga</a:t>
            </a:r>
            <a:r>
              <a:rPr dirty="0"/>
              <a:t> pada </a:t>
            </a:r>
            <a:r>
              <a:rPr dirty="0" err="1"/>
              <a:t>waktu</a:t>
            </a:r>
            <a:r>
              <a:rPr dirty="0"/>
              <a:t> yang </a:t>
            </a:r>
            <a:r>
              <a:rPr dirty="0" err="1"/>
              <a:t>sama</a:t>
            </a:r>
            <a:r>
              <a:rPr dirty="0"/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5391302"/>
            <a:ext cx="10984992" cy="744321"/>
          </a:xfrm>
          <a:prstGeom prst="roundRect">
            <a:avLst/>
          </a:prstGeom>
          <a:solidFill>
            <a:srgbClr val="FFFFFF"/>
          </a:solidFill>
          <a:ln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5501030"/>
            <a:ext cx="10600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2B40"/>
                </a:solidFill>
              </a:defRPr>
            </a:pPr>
            <a:r>
              <a:t>5. Fitur apa yang paling bermanfaat?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821070"/>
            <a:ext cx="10600944" cy="259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A5662"/>
                </a:solidFill>
              </a:defRPr>
            </a:pPr>
            <a:r>
              <a:rPr dirty="0"/>
              <a:t>Pengumuman, </a:t>
            </a:r>
            <a:r>
              <a:rPr dirty="0" err="1"/>
              <a:t>panduan</a:t>
            </a:r>
            <a:r>
              <a:rPr dirty="0"/>
              <a:t> </a:t>
            </a:r>
            <a:r>
              <a:rPr dirty="0" err="1"/>
              <a:t>layanan</a:t>
            </a:r>
            <a:r>
              <a:rPr dirty="0"/>
              <a:t>, </a:t>
            </a:r>
            <a:r>
              <a:rPr dirty="0" err="1"/>
              <a:t>kontak</a:t>
            </a:r>
            <a:r>
              <a:rPr dirty="0"/>
              <a:t> </a:t>
            </a:r>
            <a:r>
              <a:rPr dirty="0" err="1"/>
              <a:t>pengurus</a:t>
            </a:r>
            <a:r>
              <a:rPr dirty="0"/>
              <a:t>, dan </a:t>
            </a:r>
            <a:r>
              <a:rPr dirty="0" err="1"/>
              <a:t>pengaduan</a:t>
            </a:r>
            <a:r>
              <a:rPr dirty="0"/>
              <a:t> </a:t>
            </a:r>
            <a:r>
              <a:rPr dirty="0" err="1"/>
              <a:t>banjir</a:t>
            </a:r>
            <a:r>
              <a:rPr dirty="0"/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6473952"/>
            <a:ext cx="10930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1725C"/>
                </a:solidFill>
              </a:defRPr>
            </a:pPr>
            <a:r>
              <a:t>KELOMPOK 23S03  •  SUCI ALFISYAHRI CHANIAGO  •  NAZA EZIRAH  •  KHABIB SANI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17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30936" y="347472"/>
            <a:ext cx="1100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725C"/>
                </a:solidFill>
              </a:defRPr>
            </a:pPr>
            <a:r>
              <a:rPr lang="en-US" dirty="0" err="1"/>
              <a:t>wawancara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795528"/>
            <a:ext cx="1100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22B40"/>
                </a:solidFill>
              </a:defRPr>
            </a:pPr>
            <a:r>
              <a:t>Pertanyaan dan jawaban: pengaduan banjir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44752"/>
            <a:ext cx="110032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A5662"/>
                </a:solidFill>
              </a:defRPr>
            </a:pPr>
            <a:r>
              <a:t>Contoh jawaban untuk bahan diskusi — belum dinyatakan oleh narasumber.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938528"/>
            <a:ext cx="10984992" cy="744321"/>
          </a:xfrm>
          <a:prstGeom prst="roundRect">
            <a:avLst/>
          </a:prstGeom>
          <a:solidFill>
            <a:srgbClr val="FFFFFF"/>
          </a:solidFill>
          <a:ln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048256"/>
            <a:ext cx="10600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2B40"/>
                </a:solidFill>
              </a:defRPr>
            </a:pPr>
            <a:r>
              <a:t>1. Apa masalah yang terlihat dari dokumentasi lapangan?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368296"/>
            <a:ext cx="10600944" cy="259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A5662"/>
                </a:solidFill>
              </a:defRPr>
            </a:pPr>
            <a:r>
              <a:t>Foto menunjukkan genangan air di ruas jalan. Penyebab, frekuensi, dan dampaknya perlu diverifikasi.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801721"/>
            <a:ext cx="10984992" cy="744321"/>
          </a:xfrm>
          <a:prstGeom prst="roundRect">
            <a:avLst/>
          </a:prstGeom>
          <a:solidFill>
            <a:srgbClr val="FFFFFF"/>
          </a:solidFill>
          <a:ln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2911449"/>
            <a:ext cx="10600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2B40"/>
                </a:solidFill>
              </a:defRPr>
            </a:pPr>
            <a:r>
              <a:t>2. Bagaimana warga dapat melaporkan genangan?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231489"/>
            <a:ext cx="10600944" cy="259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A5662"/>
                </a:solidFill>
              </a:defRPr>
            </a:pPr>
            <a:r>
              <a:t>Usulan: Melalui RT atau formulir website berisi lokasi, waktu, deskripsi, dan dokumentasi foto.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3664915"/>
            <a:ext cx="10984992" cy="744321"/>
          </a:xfrm>
          <a:prstGeom prst="roundRect">
            <a:avLst/>
          </a:prstGeom>
          <a:solidFill>
            <a:srgbClr val="FFFFFF"/>
          </a:solidFill>
          <a:ln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3774643"/>
            <a:ext cx="10600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2B40"/>
                </a:solidFill>
              </a:defRPr>
            </a:pPr>
            <a:r>
              <a:t>3. Siapa yang berwenang menangani pengaduan?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094683"/>
            <a:ext cx="10600944" cy="259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A5662"/>
                </a:solidFill>
              </a:defRPr>
            </a:pPr>
            <a:r>
              <a:t>Usulan alur: RT memeriksa laporan dan berkoordinasi dengan perangkat nagori serta instansi terkait.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4528108"/>
            <a:ext cx="10984992" cy="744321"/>
          </a:xfrm>
          <a:prstGeom prst="roundRect">
            <a:avLst/>
          </a:prstGeom>
          <a:solidFill>
            <a:srgbClr val="FFFFFF"/>
          </a:solidFill>
          <a:ln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4637836"/>
            <a:ext cx="10600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2B40"/>
                </a:solidFill>
              </a:defRPr>
            </a:pPr>
            <a:r>
              <a:t>4. Apa solusi penanggulangan yang diusulkan?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957876"/>
            <a:ext cx="10600944" cy="259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A5662"/>
                </a:solidFill>
              </a:defRPr>
            </a:pPr>
            <a:r>
              <a:t>Pemeriksaan drainase, pembersihan saluran, pemetaan titik genangan, dan koordinasi tindak lanjut.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5391302"/>
            <a:ext cx="10984992" cy="744321"/>
          </a:xfrm>
          <a:prstGeom prst="roundRect">
            <a:avLst/>
          </a:prstGeom>
          <a:solidFill>
            <a:srgbClr val="FFFFFF"/>
          </a:solidFill>
          <a:ln>
            <a:solidFill>
              <a:srgbClr val="D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5501030"/>
            <a:ext cx="106009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2B40"/>
                </a:solidFill>
              </a:defRPr>
            </a:pPr>
            <a:r>
              <a:t>5. Bagaimana warga mengetahui perkembangan laporan?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821070"/>
            <a:ext cx="10600944" cy="259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A5662"/>
                </a:solidFill>
              </a:defRPr>
            </a:pPr>
            <a:r>
              <a:t>Usulan: Nomor tiket dan status laporan: diterima, diverifikasi, ditindaklanjuti, selesai.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6473952"/>
            <a:ext cx="10930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1725C"/>
                </a:solidFill>
              </a:defRPr>
            </a:pPr>
            <a:r>
              <a:t>KELOMPOK 23S03  •  SUCI ALFISYAHRI CHANIAGO  •  NAZA EZIRAH  •  KHABIB SANI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1678</Words>
  <Application>Microsoft Office PowerPoint</Application>
  <PresentationFormat>Widescreen</PresentationFormat>
  <Paragraphs>288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Transformasi Digital Nagori Karang Rejo</dc:title>
  <dc:subject>Proposal dan wawancara RT</dc:subject>
  <dc:creator>Proposal Website Nagori Karang Rejo</dc:creator>
  <cp:lastModifiedBy>suci alfisyahri</cp:lastModifiedBy>
  <cp:revision>2</cp:revision>
  <dcterms:created xsi:type="dcterms:W3CDTF">2026-10-19T16:21:41Z</dcterms:created>
  <dcterms:modified xsi:type="dcterms:W3CDTF">2026-10-20T09:37:29Z</dcterms:modified>
</cp:coreProperties>
</file>